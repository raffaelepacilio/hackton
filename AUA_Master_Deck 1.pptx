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Four pillars: business case, how it works, the role of AI, and a real user example. This deck tells both the business story and the technical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market reality. The key phrase is "mode mismatch" — the user is not broken, the interaction model is broken. This is what AUA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words to remember: Personalised, Real-Time, Non-Invasive. The last card is the competitive differentiator —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both the humanitarian story (individual users) and the enterprise revenue story (B2B compliance). Judges respond to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Three steps, one per column. The example boxes at the bottom make it concrete without going into James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row: left = component name + where it lives, middle = tech stack, right = plain English what it does. The color bar on the left matches the component color used throughout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technical slide for judges. Lead with the quote at the bottom. The split between what AI does and does not do builds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Pause here. Let the room settle. Then say: "This is not a hypothetical. This happens every day for 1.3 billion people. Let me show you exactly how AUA handles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James is our specific example. His setup is one-time. Contrast this with existing screen readers that need setup on every new website. AUA sets up once and works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AI earns its place. Code would have picked #14 (keyboard). AI picks #22 (voice) because it understood James is blind — keyboard nav on an invisible SVG would be useless.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core of the product. Every field takes under 1 second. The 12-field grid at the bottom makes it tangible — this is a real form, completed entirely by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James story here with the killer line. Pause after saying it.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forces: regulation, AI capability, market gap. All three aligned in 2025 for the first time. This is a blue ocean — no competitor does live runtime fixing.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three lines: user value, enterprise value, Accenture value. Each sentence should stand alone if someone screenshots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502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</a:t>
            </a:r>
            <a:endParaRPr lang="en-US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55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Universal Accessibility Runtime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957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any website accessible — without touching its code.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0632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70632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46904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46904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23176" y="3090672"/>
            <a:ext cx="1993392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3176" y="30906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Hackathon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Excludes 1.3 Billion People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top 1M websites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accessibility failures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0048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61488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1.3B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a disability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82896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74336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€97B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market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consumers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95744" y="1298448"/>
            <a:ext cx="202996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87184" y="141732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208483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Accessibility 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began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358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barrier is a mode mismatch — not blindness, not the content.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337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demand interactions that certain users physically cannot perform.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" y="3785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Drag, hover, precise click — impossible for motor-impaired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41330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Visual-only menus and unlabelled fields — invisible to screen readers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8580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Sites are third-party — the owner cannot or will not fix them fast enough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73168"/>
            <a:ext cx="8595360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Regulation is tightening — non-compliance is now a legal liability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— A Browser-Resident Accessibility Agent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595360" cy="749808"/>
          </a:xfrm>
          <a:prstGeom prst="roundRect">
            <a:avLst>
              <a:gd name="adj" fmla="val 1219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sits in your browser and adapts any website to match what you can do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time, just for you, without touching the original site.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444752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adaptation is based on YOUR declared capabilities — not a generic accessibility mode that treats all users the same.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4992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52544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waiting for the website owner to fix anything. AUA detects and resolves barriers the moment a page loads — under 2 seconds.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2212848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60336" y="23591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331012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website is never modified. AUA works entirely on your side. The site has no idea AUA exists.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595360" cy="438912"/>
          </a:xfrm>
          <a:prstGeom prst="roundRect">
            <a:avLst>
              <a:gd name="adj" fmla="val 20833"/>
            </a:avLst>
          </a:prstGeom>
          <a:solidFill>
            <a:srgbClr val="1B2F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key difference from everything else that exists:  AUA fixes barriers live, from the user's side. No other product does this.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Whose Body Doesn't Match the Web's Assumptions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Motor Impairments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Parkinson's · Cerebral palsy · Spinal injury · Tremors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drag, hover, and precise click with keyboard or voice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9808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~200M people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64992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4992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Visual Impairments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· Low vision · Colour blind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unlabelled fields, narrates barriers, enables voice navigation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~246M people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72784" y="1298448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298448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Cognitive Differences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· ADHD · Autism · Memory impairments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19933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complex UIs, reduces motion, adds step-by-step guidance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65392" y="2688336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~200M people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Ageing Population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motor control · Vision decline · Tech unfamiliarity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friction silently — no tech literacy required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9808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64992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Enterprises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· Gov agencies · Healthcare · Retail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657600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layer — reduces EU Accessibility Act liability instantly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7600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Revenue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72784" y="310896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72784" y="3108960"/>
            <a:ext cx="201168" cy="1664208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65392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Developers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embedding accessibility into their own apps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 — build custom accessibility agents on top of AUA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65392" y="4498848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65392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play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Any Website. Any User.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4447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what you can 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Interaction Contract once — what you can and cannot do physically. AUA remembers it forever. No diagnosis. No medical data. Just your preferences.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speak. I cannot use a mouse. I cannot see the screen."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64992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43984" y="144475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43984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scans every page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9584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page loads, AUA reads its structure and compares it against your profile. It finds every interaction that would block you — before you even try.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9584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0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Finds: "This page requires drag. User cannot drag. → Barrier detected."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72784" y="1298448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51776" y="144475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51776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084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fixes it live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2523744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the right fix from a pre-approved list. The fix is applied and verified. If it fails, AUA tries the next option. The website is never touched.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37376" y="3749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3822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40233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Drag replaced with voice dialog. Verified. User notified.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Average time from page load to barrier fixed: under 2 seconds.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Components — Built Into Browser + Phone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350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572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Browser Extension (MV3)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360" y="146304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5072" y="133502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manifest.json · background.js · content.js · qrcode.js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29400" y="133502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48272" y="1389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Installs in Chrome. Watches every page you visit. Invisible until needed.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99339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9339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20665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Interaction Contract Store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219456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03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05072" y="206654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chrome.storage.local · deterministic logic · no LLM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29400" y="206654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21214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Saves your profile on-device. Never uploaded. Never shared.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272491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72491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980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Agentic Runtime — The Brain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80360" y="29260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80360" y="2926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Server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05072" y="279806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0" y="28529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SemanticPageModel · Barrier Detection · Adaptation Planner (LLM) · Skill Registry · Verification Engine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279806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48272" y="28529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Reads the page, finds the barrier, picks the fix, applies it, confirms it worked.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45643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45643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3529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Companion App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80360" y="365760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80360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05072" y="352958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0" y="3584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React Native · WebSocket · QR pairing · push-to-talk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29400" y="352958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48272" y="35844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Your phone becomes a remote control for the browser session.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7200" y="4187952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187952"/>
            <a:ext cx="201168" cy="6583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42611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Subsystem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880360" y="43891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80360" y="4389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Server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05072" y="4261104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SpeechProvider abstraction · STT (native) · TTS (native) · EU fallback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629400" y="4261104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48272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Vendor-agnostic voice engine. Uses your phone's built-in speech — no extra install.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AI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One Thing — and One Thing Only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AI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82880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context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139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 TYPE of barrier it is — drag on an SVG seat map is different from drag on a list. Code cannot tell the difference. AI can.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" y="260604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79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profile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169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barrier type with what THIS specific user can do. Picks a fix that works for both — not just the barrier in isolation.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" y="338328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from a closed list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694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skill number from the pre-approved Skill Registry. Responds with just a number — "14". Nothing else.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" y="4160520"/>
            <a:ext cx="376732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Course-corrects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4714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verification fails, AI gets the error and picks again. It's a reasoning loop — not a one-shot guess.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1261872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29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AI Does NOT 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182880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1901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freely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1396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generate new JavaScript or modify the DOM directly. Every fix is pre-written by humans and versioned.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56048" y="260604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26791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raw page HTML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receives a clean structured summary — never raw source code, never user data, never PII.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56048" y="338328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disability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6941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purely from the Interaction Contract the user explicitly set. No diagnosis. No inference about medical condition.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56048" y="4160520"/>
            <a:ext cx="3858768" cy="68580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4233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unverified changes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4471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is followed by a mandatory automated check. If it fails, the change is rolled back automatically.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859536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157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use AI to write code. We use AI to make decisions — because decisions require context, and context is what AI is good at."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2860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Let's See It In Action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user. A specific website. A specific barrier.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92608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29260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James — blind from birth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book a train ticket on Trenitalia.com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has zero accessibility features.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fixing it. But James needs to book today.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STEP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One Time. Then Forgotten.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353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James, 42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from birth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 speak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 use keyboard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Uses phone daily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see screen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use mouse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Prefers audio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1568" y="1234440"/>
            <a:ext cx="5596128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1353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James does — once: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719072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39312" y="18288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9312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792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AUA Chrome extension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2066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 auto-connects to server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session ID + QR code automatically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2487168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39312" y="2596896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39312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AUA app on phone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04 — React Native app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scan and pair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66160" y="3255264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9312" y="336499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39312" y="3364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3328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Interaction Contract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16052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02 saves profile locally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chrome.storage.local — never leaves device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66160" y="4023360"/>
            <a:ext cx="5230368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39312" y="4133088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39312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096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code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joins browser's WebSocket session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devices say: "paired ✅"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66160" y="4828032"/>
            <a:ext cx="5230368" cy="109728"/>
          </a:xfrm>
          <a:prstGeom prst="roundRect">
            <a:avLst>
              <a:gd name="adj" fmla="val 8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66160" y="482803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needs to do this again.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STEPS 2 &amp;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Scanned. Barrier Found. AI Picks the Fix.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Trenitalia.com: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19072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0482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SemanticPageModel built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mapped: 12 fields, 1 SVG seat selector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HTML never sent anywhere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" y="2743200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743200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03b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072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detected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"Page needs: drag on SVG canvas"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 can: keyboard, voice"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BARRIER CONFIRMED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" y="3767328"/>
            <a:ext cx="3767328" cy="91440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67328"/>
            <a:ext cx="18288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096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called with clean prompt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352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 sent to Claude API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skill number fixes this?"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replies: "22"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73168" y="1234440"/>
            <a:ext cx="4224528" cy="3749040"/>
          </a:xfrm>
          <a:prstGeom prst="roundRect">
            <a:avLst>
              <a:gd name="adj" fmla="val 243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9834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sent to AI: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1719072"/>
            <a:ext cx="3840480" cy="2029968"/>
          </a:xfrm>
          <a:prstGeom prst="roundRect">
            <a:avLst>
              <a:gd name="adj" fmla="val 4505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(simplified):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0299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Barrier: drag on SVG seat canvas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19456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can: keyboard, voice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23591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cannot: see screen, use mouse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25237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268833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skills: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28529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— replace drag → keyboard nav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30175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 — replace drag → voice dialog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31821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#31 — replace drag → shape toolbar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074920" y="33467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35112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 number?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919472" y="3822192"/>
            <a:ext cx="3840480" cy="438912"/>
          </a:xfrm>
          <a:prstGeom prst="roundRect">
            <a:avLst>
              <a:gd name="adj" fmla="val 208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19472" y="38221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responds: "22"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a number — nothing else)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919472" y="43525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"22" not "14"? SVG canvas + blind user = voice dialog is better than invisible keyboard grid.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— STEPS 4 &amp;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Speaks. Browser Acts. In Under 1 Second.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speaks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0624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name — James"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36776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36776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36776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56816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82496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converts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673352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text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(native phone)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770632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9504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9504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9504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935224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parsed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JSON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42232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42232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42232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462272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4187952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178808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browser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filled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431536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executes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fired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6528816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47688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47688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47688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967728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693408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684264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7781544" y="17830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900416" y="1234440"/>
            <a:ext cx="1115568" cy="199339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900416" y="1234440"/>
            <a:ext cx="1115568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00416" y="123444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220456" y="15727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7946136" y="2029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hears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936992" y="2304288"/>
            <a:ext cx="1042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"Got it.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2..."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57200" y="3364992"/>
            <a:ext cx="8595360" cy="36576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8368" y="3456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Total: ~750ms  |  STT 300ms → Intent 100ms → WebSocket 50ms → Fill 20ms → Verify 30ms → WebSocket 50ms → TTS 200ms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3858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repeats for every field — 12 times for James's form: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530352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530352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"James"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938528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2011680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650" dirty="0"/>
          </a:p>
        </p:txBody>
      </p:sp>
      <p:sp>
        <p:nvSpPr>
          <p:cNvPr id="62" name="Text 60"/>
          <p:cNvSpPr txBox="1"/>
          <p:nvPr/>
        </p:nvSpPr>
        <p:spPr>
          <a:xfrm>
            <a:off x="2011680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"Morrison"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419856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3493008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650" dirty="0"/>
          </a:p>
        </p:txBody>
      </p:sp>
      <p:sp>
        <p:nvSpPr>
          <p:cNvPr id="65" name="Text 63"/>
          <p:cNvSpPr txBox="1"/>
          <p:nvPr/>
        </p:nvSpPr>
        <p:spPr>
          <a:xfrm>
            <a:off x="3493008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 March 1987"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901184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4974336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4974336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"james@email.com"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382512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0" name="Text 68"/>
          <p:cNvSpPr txBox="1"/>
          <p:nvPr/>
        </p:nvSpPr>
        <p:spPr>
          <a:xfrm>
            <a:off x="6455664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6455664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"07700 900000"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63840" y="4224528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7936992" y="4261104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from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7936992" y="43982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"Milano Centrale"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57200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530352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530352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"Roma Termini"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938528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2011680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80" name="Text 78"/>
          <p:cNvSpPr txBox="1"/>
          <p:nvPr/>
        </p:nvSpPr>
        <p:spPr>
          <a:xfrm>
            <a:off x="2011680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 September"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419856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2" name="Text 80"/>
          <p:cNvSpPr txBox="1"/>
          <p:nvPr/>
        </p:nvSpPr>
        <p:spPr>
          <a:xfrm>
            <a:off x="3493008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650" dirty="0"/>
          </a:p>
        </p:txBody>
      </p:sp>
      <p:sp>
        <p:nvSpPr>
          <p:cNvPr id="83" name="Text 81"/>
          <p:cNvSpPr txBox="1"/>
          <p:nvPr/>
        </p:nvSpPr>
        <p:spPr>
          <a:xfrm>
            <a:off x="3493008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"1"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901184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4974336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pref.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"Window"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382512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8" name="Text 86"/>
          <p:cNvSpPr txBox="1"/>
          <p:nvPr/>
        </p:nvSpPr>
        <p:spPr>
          <a:xfrm>
            <a:off x="6455664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6455664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"Card ending 4242"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863840" y="4608576"/>
            <a:ext cx="1389888" cy="32004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91" name="Text 89"/>
          <p:cNvSpPr txBox="1"/>
          <p:nvPr/>
        </p:nvSpPr>
        <p:spPr>
          <a:xfrm>
            <a:off x="7936992" y="4645152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upload</a:t>
            </a:r>
            <a:endParaRPr lang="en-US" sz="650" dirty="0"/>
          </a:p>
        </p:txBody>
      </p:sp>
      <p:sp>
        <p:nvSpPr>
          <p:cNvPr id="92" name="Text 90"/>
          <p:cNvSpPr txBox="1"/>
          <p:nvPr/>
        </p:nvSpPr>
        <p:spPr>
          <a:xfrm>
            <a:off x="7936992" y="47823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Phone camera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Booked His Ticket. In 3 Minutes.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307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AUA once — never again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61872" y="1618488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64608" y="1234440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234440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123444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307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Trenitalia.com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1618488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1618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98424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984248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1984248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0:01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— phone paired with browser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261872" y="2368296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61872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01+04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64608" y="1984248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1984248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1984248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0:02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 scans page, finds SVG drag barrier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0" y="2368296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03a+03b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3405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734056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273405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2807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Skill #22 — voice dialog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61872" y="3118104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61872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64608" y="2734056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2734056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64608" y="2734056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0:04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2807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 and verified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3118104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03d+03e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348386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483864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348386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0:06–2:30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261872" y="3557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fields answered by voice, each verified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61872" y="38679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261872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04+05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64608" y="3483864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3483864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64608" y="348386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0" y="35570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"Submit" — form submitted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0" y="38679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03d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233672"/>
            <a:ext cx="4251960" cy="658368"/>
          </a:xfrm>
          <a:prstGeom prst="roundRect">
            <a:avLst>
              <a:gd name="adj" fmla="val 13889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7200" y="4233672"/>
            <a:ext cx="713232" cy="658368"/>
          </a:xfrm>
          <a:prstGeom prst="roundRect">
            <a:avLst>
              <a:gd name="adj" fmla="val 138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7200" y="423367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261872" y="43068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confirms: "Ticket booked ✅"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261872" y="461772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261872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05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02920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85800" y="51023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Trenitalia's code was never touched.  The website had no accessibility features.  James booked his ticket independently.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2743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Three Forces Align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6192" y="1389888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36192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Accessibility Act enforcement started June 2025. ADA enforcement in the US. Companies face real legal liability today — not in 5 years.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€350B  estimated EU compliance market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3984" y="138988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43984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29584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tool use and verification loops is new. A year ago, understanding a live webpage and adapting it in real time was not practical.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29584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9584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first year this was buildable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72784" y="1261872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51776" y="13898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51776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2331720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top websites still fail accessibility checks. No runtime solution exists. Audit tools find problems — they don't fix them.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37376" y="3364992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37376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competitors doing live runtime fixing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8587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models: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9436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B2C SaaS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€5–15/mo · browser extension subscription · individual users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70048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2807208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Enterprise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807208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licensing · compliance layer for large organisations · high ACV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82896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020056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/ SDK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0056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embed AUA accessibility engine into their own products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095744" y="4206240"/>
            <a:ext cx="20574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232904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Accenture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32904" y="4572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managed service for clients · recurring revenue + IP ownership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3840480" cy="384048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mode mismatch.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guessing the disability.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633472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633472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334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084832" y="2706624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website. Any disability. Any device. Fixed live — in under 2 seconds.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55264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255264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2552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084832" y="3328416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layer that deploys without touching a single line of client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877056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1B2F52"/>
          </a:solidFill>
          <a:ln w="12700">
            <a:solidFill>
              <a:srgbClr val="1B2F5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877056"/>
            <a:ext cx="1371600" cy="530352"/>
          </a:xfrm>
          <a:prstGeom prst="roundRect">
            <a:avLst>
              <a:gd name="adj" fmla="val 1724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770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Accenture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084832" y="3950208"/>
            <a:ext cx="6656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AI-native product category — browser-resident accessibility agents.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681728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 ·  Agentic AI  ·  Accessibility-first  ·  Accenture Hackathon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2026-09-22T13:06:49Z</dcterms:created>
  <dcterms:modified xsi:type="dcterms:W3CDTF">2026-09-22T13:06:49Z</dcterms:modified>
</cp:coreProperties>
</file>