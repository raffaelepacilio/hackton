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Copertina. Quattro pilastri: business case, come funziona, ruolo dell'AI, esempio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Apri con la realtà di mercato. La frase chiave è "mismatch di modalità" — l'utente non è rotto, è il modello di interazione ad essere rotto.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parole da ricordare: Personalizzato, Tempo Reale, Non Invasivo. L'ultima card è il differenziatore competitivo.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Copri sia la storia umanitaria (utenti individuali) sia la storia di revenue enterprise (conformità B2B). Le giurie rispondono a entrambe.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Mantieni semplice. Tre passi, una colonna ciascuno. I box di esempio in basso rendono tutto concreto senza ancora parlare di James.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ogni riga: sinistra = nome componente + dove vive, centro = stack tecnico, destra = cosa fa in italiano semplice.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tecnica più importante per i giudici. Inizia con la citazione in fondo. La divisione tra ciò che l'AI fa e non fa costruisce fiducia.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transizione. Fai una pausa. Poi di': "Questo non è un caso ipotetico. Accade ogni giorno a 1,3 miliardi di persone. Vi mostro esattamente come AUA lo gestisce."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James è il nostro esempio specifico. La sua configurazione è una tantum. Confronta con i lettori di schermo esistenti che richiedono configurazione su ogni nuovo 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l'AI guadagna il suo posto. Il codice avrebbe scelto #14 (tastiera). L'AI sceglie #22 (voce) perché ha capito che James è cieco — la navigazione a tastiera su un SVG invisibile sarebbe inutile.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ciclo è il cuore del prodotto. Ogni campo richiede meno di 1 secondo. La griglia di 12 campi in basso lo rende tangibile — questo è un modulo reale, completato interamente con la voce.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Chiudi la storia di James qui con la frase killer. Fai una pausa dopo averla detta. Lascia che arrivi.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forze: normativa, capacità AI, divario di mercato. Tutte e tre si sono allineate nel 2025 per la prima volta. Questo è un oceano blu — nessun concorrente fa correzione runtime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Chiudi con tre righe: valore per l'utente, valore enterprise, valore Accenture. Ogni frase dovrebbe stare da sola se qualcuno fotografa questa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502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</a:t>
            </a:r>
            <a:endParaRPr lang="en-US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Universal Accessibility Runtime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957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 qualsiasi sito web accessibile — senza modificarne il codice.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70632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46904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46904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dell'AI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23176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23176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Reale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Hackathon  ·  Settembre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Web Esclude 1,3 Miliardi di Persone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principali siti web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problemi di accessibilità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0048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61488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Mld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 nel mondo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vivono con una disabilità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82896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74336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€97 Mld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UE dei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consumatori con disabilità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95744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87184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UE sull'Accessibilità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vigore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35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vero ostacolo è un mismatch di modalità — non la cecità, non il contenuto.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siti web richiedono interazioni che certi utenti non possono fisicamente eseguire.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" y="3785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Trascinare, passare il mouse, cliccare con precisione — impossibile per utenti con disabilità motorie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41330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Menu solo visivi e campi senza etichetta — invisibili ai lettori di schermo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" y="4480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I siti sono di terze parti — il proprietario non può o non vuole correggerli in tempo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73168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La normativa si inasprisce — la non conformità è oggi una responsabilità legale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— Un Agente di Accessibilità nel Browser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risiede nel browser e adatta qualsiasi sito web alle tue capacità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tempo reale, solo per te, senza toccare il sito originale.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444752" y="23591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Personalizzato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1012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adattamento si basa sulle TUE capacità dichiarate — non una modalità accessibilità generica uguale per tutti.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4992" y="2212848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52544" y="23591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Tempo Reale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331012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attesa che il proprietario del sito corregga qualcosa. AUA rileva e risolve le barriere nel momento in cui la pagina si carica — in meno di 2 secondi.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72784" y="2212848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60336" y="23591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Invasivo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31012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sito originale non viene mai modificato. AUA lavora interamente dal tuo lato. Il sito non sa che AUA esiste.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595360" cy="438912"/>
          </a:xfrm>
          <a:prstGeom prst="roundRect">
            <a:avLst>
              <a:gd name="adj" fmla="val 20833"/>
            </a:avLst>
          </a:prstGeom>
          <a:solidFill>
            <a:srgbClr val="1B2F5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La differenza chiave da tutto ciò che esiste:  AUA risolve le barriere in tempo reale, dal lato dell'utente. Nessun altro prodotto lo fa.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 SERVE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Chiunque il cui Corpo Non Corrisponda alle Aspettative del Web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Disabilità Motorie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 · Paralisi cerebrale · Lesione spinale · Tremore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Sostituisce trascinamento, hover e clic preciso con tastiera o voce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9808" y="2688336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Mln persone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1298448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4992" y="1298448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Disabilità Visive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Cecità · Ipovisione · Daltonismo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Etichetta campi senza label, narra le barriere, abilita la navigazione vocale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2688336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~246 Mln persone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72784" y="1298448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298448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Differenze Cognitive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Dislessia · ADHD · Autismo · Disturbi della memoria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 UI complesse, riduce animazioni, aggiunge guida passo-passo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65392" y="2688336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5392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Mln persone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108960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Popolazione Anziana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motorio ridotto · Vista calante · Poca dimestichezza tech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frizione in silenzio — senza richiedere competenze tecniche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9808" y="4498848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più in crescita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31089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64992" y="3108960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Imprese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Banche · PA · Sanità · Retail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657600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di conformità — riduce istantaneamente il rischio legale EU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4498848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57600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B2B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72784" y="31089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72784" y="3108960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65392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Sviluppatori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prodotto che integrano accessibilità nelle proprie app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— costruisci agenti di accessibilità personalizzati su AUA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65392" y="4498848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65392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Passi. Qualsiasi Sito. Qualsiasi Utente.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144475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Dichiari cosa puoi fare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2374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Imposti il tuo Contratto di Interazione una volta sola — cosa puoi e non puoi fare fisicamente. AUA lo ricorda per sempre. Nessuna diagnosi. Nessun dato medico.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3749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"Posso parlare. Non posso usare il mouse. Non vedo lo schermo."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64992" y="1298448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43984" y="144475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43984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analizza ogni pagina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9584" y="252374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momento in cui una pagina si carica, AUA ne legge la struttura e la confronta con il tuo profilo. Trova ogni interazione che ti bloccherebbe — prima che tu ci provi.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9584" y="3749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Trova: "Questa pagina richiede trascinamento. Utente non può trascinare. → Barriera rilevata."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72784" y="1298448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51776" y="144475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51776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la corregge in tempo reale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252374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sceglie la soluzione giusta da una lista pre-approvata. La correzione viene applicata e verificata. Se fallisce, AUA prova l'opzione successiva. Il sito non viene mai toccato.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37376" y="3749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Risultato: Trascinamento sostituito con dialogo vocale. Verificato. Utente notificato.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Tempo medio dal caricamento della pagina alla correzione della barriera: meno di 2 secondi.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TECNICA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Componenti — Nel Browser e nel Telefono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350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Estensione Browser (MV3)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0360" y="146304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5072" y="133502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manifest.json · background.js · content.js · qrcode.js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29400" y="133502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48272" y="1389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Si installa in Chrome. Osserva ogni pagina visitata. Invisibile finché non serve.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99339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99339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066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Archivio Contratto di Interazione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219456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8036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05072" y="206654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chrome.storage.local · logica deterministica · nessun LLM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29400" y="206654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2121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Salva il profilo sul dispositivo. Mai caricato. Mai condiviso.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272491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72491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980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Runtime Agentivo — Il Cervello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80360" y="29260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8036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Server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05072" y="279806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0" y="2852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SemanticPageModel · Barrier Detection · Adaptation Planner (LLM) · Skill Registry · Verification Engine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29400" y="279806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48272" y="28529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Legge la pagina, trova la barriera, sceglie la correzione, la applica, conferma che ha funzionato.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45643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45643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529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Mobile Companion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80360" y="365760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8036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05072" y="352958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0" y="3584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React Native · WebSocket · abbinamento QR · push-to-talk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629400" y="352958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48272" y="35844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Il tuo telefono diventa un telecomando per la sessione del browser.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418795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18795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4261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Sottosistema Vocale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80360" y="43891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80360" y="4389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 + Server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005072" y="426110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0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SpeechProvider abstraction · STT (nativo) · TTS (nativo) · fallback EU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29400" y="426110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48272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Motore vocale vendor-agnostico. Usa il riconoscimento vocale nativo del telefono — nessuna installazione extra.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DELL'AI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Fa Una Cosa Sola — e Solo Quella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Cosa FA l'AI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82880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01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il contesto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39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Capisce che TIPO di barriera è — il trascinamento su una mappa SVG è diverso dal trascinamento su una lista. Il codice non può distinguerli. L'AI sì.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" y="260604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79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il profilo utente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16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il tipo di barriera con ciò che QUESTO specifico utente può fare. Sceglie una correzione che funziona per entrambi.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" y="338328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 da una lista chiusa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 un numero di skill dal registro pre-approvato. Risponde solo con un numero — "14". Nient'altro.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416052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autocorregge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71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 verifica fallisce, l'AI riceve l'errore e sceglie di nuovo. È un ciclo di ragionamento — non un'ipotesi unica.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261872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29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Cosa NON FA l'AI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182880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1901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codice liberamente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139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non può generare nuovo JavaScript né modificare il DOM direttamente. Ogni correzione è pre-scritta da esseri umani e versionata.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56048" y="260604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26791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Vedere l'HTML grezzo della pagina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riceve solo un riassunto strutturato e pulito — mai codice sorgente grezzo, mai dati utente, mai informazioni personali.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56048" y="338328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3456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Indovinare la disabilità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694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lavora esclusivamente sul Contratto di Interazione impostato esplicitamente dall'utente. Nessuna diagnosi. Nessuna inferenza medica.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56048" y="416052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0" y="42336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modifiche non verificate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4471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dell'AI è seguita da un controllo automatico obbligatorio. Se fallisce, la modifica viene ripristinata automaticamente.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859536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157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 usiamo l'AI per scrivere codice. La usiamo per prendere decisioni — perché le decisioni richiedono contesto, e il contesto è ciò in cui l'AI eccelle."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2860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371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— Vediamolo in Azione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utente specifico. Un sito specifico. Una barriera specifica.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292608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29260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James — cieco dalla nascita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vuole prenotare un biglietto del treno su Trenitalia.com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sito non ha alcuna funzionalità di accessibilità.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 lo sta correggendo. Ma James deve prenotare oggi.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— PASSO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Configurazione: Una Volta Sola. Poi Dimenticata.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353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James, 42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Cieco dalla nascita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Può parlare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Può usare la tastiera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779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 il telefono ogni giorno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 vede lo schermo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 può usare il mouse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Preferisce output audio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1568" y="1234440"/>
            <a:ext cx="5596128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1353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 James — una volta sola: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1719072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9312" y="18288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9312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792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 l'estensione AUA per Chrome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2066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01 si connette automaticamente al server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ID sessione + codice QR automaticamente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2487168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9312" y="2596896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39312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 l'app AUA sul telefono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04 — app React Native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 per scansionare e abbinare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66160" y="3255264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39312" y="336499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39312" y="3364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 il Contratto di Interazione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02 salva il profilo localmente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chrome.storage.local — non lascia mai il dispositivo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66160" y="4023360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39312" y="4133088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39312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Scansiona il codice QR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telefono si unisce alla sessione WebSocket del browser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i dispositivi dicono: "abbinati ✅"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4828032"/>
            <a:ext cx="5230368" cy="109728"/>
          </a:xfrm>
          <a:prstGeom prst="roundRect">
            <a:avLst>
              <a:gd name="adj" fmla="val 8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66160" y="482803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dovrà mai farlo di nuovo.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— PASSI 2 &amp;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Analizzata. Barriera Trovata. L'AI Sceglie la Correzione.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Trenitalia.com: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719072"/>
            <a:ext cx="3767328" cy="91440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719072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03a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48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SemanticPageModel costruito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mappata: 12 campi, 1 selettore SVG posti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grezzo mai inviato da nessuna parte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2743200"/>
            <a:ext cx="3767328" cy="91440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74320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03b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072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Barriera rilevata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"Pagina richiede: trascinamento su canvas SVG"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 può: tastiera, voce"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BARRIERA CONFERMATA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" y="3767328"/>
            <a:ext cx="3767328" cy="91440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67328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03c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096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chiamata con prompt pulito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352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Riassunto strutturato inviato all'API Claude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"Quale numero di skill risolve questo?"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risponde: "22"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73168" y="1234440"/>
            <a:ext cx="4224528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9834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viene inviato all'AI: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9472" y="1719072"/>
            <a:ext cx="3840480" cy="2029968"/>
          </a:xfrm>
          <a:prstGeom prst="roundRect">
            <a:avLst>
              <a:gd name="adj" fmla="val 4505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(semplificato):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20299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Barriera: trascinamento su canvas SVG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1945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 puo: tastiera, voce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23591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 non puo: vedere schermo, mouse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25237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26883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disponibili: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28529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#14 - sostituisci drag → nav tastiera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3017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#22 - sostituisci drag → dialogo vocale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318211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#31 - sostituisci drag → toolbar forme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074920" y="33467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35112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numero di skill?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919472" y="3822192"/>
            <a:ext cx="3840480" cy="438912"/>
          </a:xfrm>
          <a:prstGeom prst="roundRect">
            <a:avLst>
              <a:gd name="adj" fmla="val 208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19472" y="3822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risponde: "22"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 un numero — nient'altro)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919472" y="4352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"22" e non "14"? Canvas SVG + utente cieco = dialogo vocale è meglio di una griglia tastiera invisibile.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— PASSI 4 &amp;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Parla. Il Browser Agisce. In Meno di 1 Secondo.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parla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20624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"Nome — James"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51790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36776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36776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36776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956816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82496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converte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673352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testo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(nativo telefono)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770632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9504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89504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89504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935224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analizzato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→ comando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42232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42232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42232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187952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178808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browser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0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94960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440680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compilato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431536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eseguita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inviati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6528816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47688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47688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47688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967728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693408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684264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controlli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superati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78154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900416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900416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00416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220456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7946136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sente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936992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"Fatto.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2..."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57200" y="3364992"/>
            <a:ext cx="8595360" cy="36576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8368" y="34564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Totale: ~750ms  |  STT 300ms → Intent 100ms → WebSocket 50ms → Compila 20ms → Verifica 30ms → WebSocket 50ms → TTS 200ms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3858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ciclo si ripete per ogni campo — 12 volte per il modulo di James: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530352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530352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"James"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938528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2011680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Cognome</a:t>
            </a:r>
            <a:endParaRPr lang="en-US" sz="650" dirty="0"/>
          </a:p>
        </p:txBody>
      </p:sp>
      <p:sp>
        <p:nvSpPr>
          <p:cNvPr id="62" name="Text 60"/>
          <p:cNvSpPr txBox="1"/>
          <p:nvPr/>
        </p:nvSpPr>
        <p:spPr>
          <a:xfrm>
            <a:off x="2011680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"Morrison"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419856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3493008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nascita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3493008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 marzo 1987"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01184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4974336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4974336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"james@email.com"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382512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6455664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650" dirty="0"/>
          </a:p>
        </p:txBody>
      </p:sp>
      <p:sp>
        <p:nvSpPr>
          <p:cNvPr id="71" name="Text 69"/>
          <p:cNvSpPr txBox="1"/>
          <p:nvPr/>
        </p:nvSpPr>
        <p:spPr>
          <a:xfrm>
            <a:off x="6455664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"333 1234567"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863840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7936992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Partenza</a:t>
            </a:r>
            <a:endParaRPr lang="en-US" sz="650" dirty="0"/>
          </a:p>
        </p:txBody>
      </p:sp>
      <p:sp>
        <p:nvSpPr>
          <p:cNvPr id="74" name="Text 72"/>
          <p:cNvSpPr txBox="1"/>
          <p:nvPr/>
        </p:nvSpPr>
        <p:spPr>
          <a:xfrm>
            <a:off x="7936992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"Milano Centrale"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57200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530352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Arrivo</a:t>
            </a:r>
            <a:endParaRPr lang="en-US" sz="650" dirty="0"/>
          </a:p>
        </p:txBody>
      </p:sp>
      <p:sp>
        <p:nvSpPr>
          <p:cNvPr id="77" name="Text 75"/>
          <p:cNvSpPr txBox="1"/>
          <p:nvPr/>
        </p:nvSpPr>
        <p:spPr>
          <a:xfrm>
            <a:off x="530352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"Roma Termini"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938528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2011680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80" name="Text 78"/>
          <p:cNvSpPr txBox="1"/>
          <p:nvPr/>
        </p:nvSpPr>
        <p:spPr>
          <a:xfrm>
            <a:off x="2011680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 settembre"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419856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2" name="Text 80"/>
          <p:cNvSpPr txBox="1"/>
          <p:nvPr/>
        </p:nvSpPr>
        <p:spPr>
          <a:xfrm>
            <a:off x="3493008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Passeggeri</a:t>
            </a:r>
            <a:endParaRPr lang="en-US" sz="650" dirty="0"/>
          </a:p>
        </p:txBody>
      </p:sp>
      <p:sp>
        <p:nvSpPr>
          <p:cNvPr id="83" name="Text 81"/>
          <p:cNvSpPr txBox="1"/>
          <p:nvPr/>
        </p:nvSpPr>
        <p:spPr>
          <a:xfrm>
            <a:off x="3493008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"1"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901184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4974336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 pref.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4974336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"Finestrino"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382512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8" name="Text 86"/>
          <p:cNvSpPr txBox="1"/>
          <p:nvPr/>
        </p:nvSpPr>
        <p:spPr>
          <a:xfrm>
            <a:off x="6455664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6455664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"Carta fin. 4242"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863840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91" name="Text 89"/>
          <p:cNvSpPr txBox="1"/>
          <p:nvPr/>
        </p:nvSpPr>
        <p:spPr>
          <a:xfrm>
            <a:off x="7936992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 ID</a:t>
            </a:r>
            <a:endParaRPr lang="en-US" sz="650" dirty="0"/>
          </a:p>
        </p:txBody>
      </p:sp>
      <p:sp>
        <p:nvSpPr>
          <p:cNvPr id="92" name="Text 90"/>
          <p:cNvSpPr txBox="1"/>
          <p:nvPr/>
        </p:nvSpPr>
        <p:spPr>
          <a:xfrm>
            <a:off x="7936992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Fotocamera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Ha Prenotato il Suo Biglietto. In 3 Minuti.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Settimana 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307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AUA una volta — mai più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61872" y="1618488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64608" y="1234440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234440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12344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307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 Trenitalia.com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1618488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98424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984248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1984248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Scansiona QR — telefono abbinato al browser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261872" y="2368296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61872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01+04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64608" y="198424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1984248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1984248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0:02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analizza la pagina, trova barriera SVG drag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2368296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03a+03b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34056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734056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2734056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2807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sceglie Skill #22 — dialogo vocale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61872" y="3118104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61872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64608" y="2734056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2734056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64608" y="2734056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2807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Correzione applicata e verificata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3118104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03d+03e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483864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483864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348386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0:06–2:30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261872" y="35570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campi risposti con la voce, ognuno verificato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61872" y="386791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261872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04+05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64608" y="3483864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3483864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64608" y="348386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0" y="35570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"Invia" — modulo inviato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0" y="386791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233672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7200" y="4233672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423367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261872" y="43068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 conferma: "Biglietto prenotato ✅"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261872" y="461772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261872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02920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685800" y="51023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di Trenitalia non è mai stato toccato.  Il sito non aveva funzionalità di accessibilità.  James ha prenotato il suo biglietto in autonomia.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OPPORTUNITÀ DI MERCATO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Adesso — Tre Forze Si Allineano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138988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31720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Legge UE sull'Accessibilità è in vigore da giugno 2025. Anche negli USA con l'ADA. Le aziende affrontano responsabilità legali reali oggi — non fra 5 anni.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3364992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€350 Mld  mercato stimato conformità 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1261872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3984" y="138988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43984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 AI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2331720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agentiva con tool use e cicli di verifica è nuova. Un anno fa, comprendere una pagina web live e adattarla in tempo reale non era praticabile.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9584" y="3364992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9584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primo anno in cui era realizzabile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72784" y="1261872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51776" y="13898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51776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Divario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2331720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96% dei principali siti web fallisce ancora i controlli di accessibilità. Non esiste nessuna soluzione runtime. Gli strumenti di audit trovano i problemi — non li correggono.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37376" y="3364992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concorrenti che fanno correzione live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858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di revenue: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9436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B2C SaaS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€5–15/mese · abbonamento estensione browser · utenti individuali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70048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807208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Enterprise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807208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 posto · livello di conformità per grandi organizzazioni · alto ACV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82896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020056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/ SDK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0056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Sviluppatori integrano il motore di accessibilità AUA nei propri prodotti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095744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232904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Accenture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32904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come managed service per clienti · revenue ricorrente + proprietà IP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3840480" cy="384048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Risolvere il mismatch di modalità.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indovinare la disabilità.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633472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633472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334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gli utenti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84832" y="2706624"/>
            <a:ext cx="6656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Qualsiasi sito. Qualsiasi disabilità. Qualsiasi dispositivo. Corretto in tempo reale — in meno di 2 secondi.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55264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255264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2552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 imprese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084832" y="3328416"/>
            <a:ext cx="6656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di conformità che si distribuisce senza toccare una singola riga del codice del cliente.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877056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877056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770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Accenture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084832" y="3950208"/>
            <a:ext cx="6656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nuova categoria di prodotto AI-native — agenti di accessibilità residenti nel browser.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681728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Realizzato con Claude Code  ·  AI Agentiva  ·  Accessibility-first  ·  Accenture Hackathon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2026-09-22T13:15:10Z</dcterms:created>
  <dcterms:modified xsi:type="dcterms:W3CDTF">2026-09-22T13:15:10Z</dcterms:modified>
</cp:coreProperties>
</file>